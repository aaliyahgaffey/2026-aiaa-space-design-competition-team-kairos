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Play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BJtVPEmFyL3yLCk52vGbLQPTk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C489E1-CD01-4AC5-B434-DD537316A957}">
  <a:tblStyle styleId="{53C489E1-CD01-4AC5-B434-DD537316A957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Play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 off of TRL first and then go into further analysis for lower TRL’s to justify 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CTE is not a driver, but a critical consideration</a:t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Irwin-Kies Relationship (something idk)</a:t>
            </a:r>
            <a:endParaRPr/>
          </a:p>
        </p:txBody>
      </p:sp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522d56a2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Irwin-Kies Relationship (something idk)</a:t>
            </a:r>
            <a:endParaRPr/>
          </a:p>
        </p:txBody>
      </p:sp>
      <p:sp>
        <p:nvSpPr>
          <p:cNvPr id="175" name="Google Shape;175;g3d522d56a2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b45dde80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b45dde80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8b45dde80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scribd.com/document/737833590/Hart-Smith-10-Rule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-eng.lbl.gov/~shuman/NEXT/MATERIALS&amp;COMPONENTS/Pressure_vessels/CE_fil_wind_ORNL_study.pdf" TargetMode="External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pmc.ncbi.nlm.nih.gov/articles/PMC8347775/#:~:text=Improved%20Mechanical%2C%20Anti%2DUV%20Irradiation,Carbon%20Nanotubes%2FEuropium%20Nanocomposites%20%2D%20PMC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makeitfrom.com/material-group/Aluminum-Alloy" TargetMode="External"/><Relationship Id="rId4" Type="http://schemas.openxmlformats.org/officeDocument/2006/relationships/hyperlink" Target="https://www.aerospacemetals.com/aluminum-distributor/" TargetMode="External"/><Relationship Id="rId5" Type="http://schemas.openxmlformats.org/officeDocument/2006/relationships/hyperlink" Target="https://www.hexcel.com/wp-content/uploads/2025/12/HexPly_8552_eu_DataSheet1.pdf" TargetMode="External"/><Relationship Id="rId6" Type="http://schemas.openxmlformats.org/officeDocument/2006/relationships/hyperlink" Target="https://toray-cfe.com/wp-content/uploads/2025/02/Torayca-M40J-Technical-Data-Sheet.pdf" TargetMode="External"/><Relationship Id="rId7" Type="http://schemas.openxmlformats.org/officeDocument/2006/relationships/hyperlink" Target="https://www.hexcel.com/wp-content/uploads/2025/12/HexPly_9543_us_DataSheet.pdf" TargetMode="External"/><Relationship Id="rId8" Type="http://schemas.openxmlformats.org/officeDocument/2006/relationships/hyperlink" Target="https://etd.gsfc.nasa.gov/capabilities/outgassing-databas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Kairos Material Trade Study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Vincent Kim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Completed: 4/9/26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Candidates</a:t>
            </a:r>
            <a:endParaRPr/>
          </a:p>
        </p:txBody>
      </p:sp>
      <p:graphicFrame>
        <p:nvGraphicFramePr>
          <p:cNvPr id="95" name="Google Shape;95;p2"/>
          <p:cNvGraphicFramePr/>
          <p:nvPr/>
        </p:nvGraphicFramePr>
        <p:xfrm>
          <a:off x="1391750" y="30404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{53C489E1-CD01-4AC5-B434-DD537316A957}</a:tableStyleId>
              </a:tblPr>
              <a:tblGrid>
                <a:gridCol w="2352125"/>
                <a:gridCol w="2352125"/>
                <a:gridCol w="2352125"/>
                <a:gridCol w="2352125"/>
              </a:tblGrid>
              <a:tr h="576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/>
                        <a:t>Metals</a:t>
                      </a:r>
                      <a:endParaRPr sz="2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 u="none" cap="none" strike="noStrike"/>
                        <a:t>Al 6061-T6</a:t>
                      </a:r>
                      <a:endParaRPr sz="25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 u="none" cap="none" strike="noStrike"/>
                        <a:t>Al 7075-T73</a:t>
                      </a:r>
                      <a:endParaRPr sz="25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 u="none" cap="none" strike="noStrike"/>
                        <a:t>Al 2024-T3</a:t>
                      </a:r>
                      <a:endParaRPr sz="25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/>
                        <a:t>Composites</a:t>
                      </a:r>
                      <a:endParaRPr sz="29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 u="none" cap="none" strike="noStrike"/>
                        <a:t>AS4/3501-6</a:t>
                      </a:r>
                      <a:endParaRPr sz="29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 u="none" cap="none" strike="noStrike"/>
                        <a:t>IM7/8552</a:t>
                      </a:r>
                      <a:endParaRPr sz="29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 u="none" cap="none" strike="noStrike"/>
                        <a:t>M40J/954-3</a:t>
                      </a:r>
                      <a:endParaRPr sz="29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Criteria | Reasoning | Weights</a:t>
            </a:r>
            <a:endParaRPr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217941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5541"/>
              <a:t>Specific Modulus | Vibrations (H) [0.2]</a:t>
            </a:r>
            <a:endParaRPr sz="5541"/>
          </a:p>
          <a:p>
            <a:pPr indent="-217941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5541"/>
              <a:t>Specific Strength | Launch Loads (H) [0.2]</a:t>
            </a:r>
            <a:endParaRPr sz="5541"/>
          </a:p>
          <a:p>
            <a:pPr indent="-217941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5541"/>
              <a:t>Outgassing | Contamination and Weakening (L) [0.1]</a:t>
            </a:r>
            <a:endParaRPr sz="5541"/>
          </a:p>
          <a:p>
            <a:pPr indent="-217941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5541"/>
              <a:t>ESD Risk | Arcing and ESDs (H) [0.05]</a:t>
            </a:r>
            <a:endParaRPr sz="5541"/>
          </a:p>
          <a:p>
            <a:pPr indent="-217941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5541"/>
              <a:t>TRL | Has it worked? (H) [0.1]</a:t>
            </a:r>
            <a:endParaRPr sz="5541"/>
          </a:p>
          <a:p>
            <a:pPr indent="-217941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5541"/>
              <a:t>Manufacturability | Cost to process and handle (H) [0.05]</a:t>
            </a:r>
            <a:endParaRPr sz="5541"/>
          </a:p>
          <a:p>
            <a:pPr indent="-217941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5541"/>
              <a:t>Rad Tolerance | Mechanical degradation (H) [0.1]</a:t>
            </a:r>
            <a:endParaRPr sz="5541"/>
          </a:p>
          <a:p>
            <a:pPr indent="-217941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5541"/>
              <a:t>UV Resistance | Polymer scission (H) [0.1]</a:t>
            </a:r>
            <a:endParaRPr sz="5541"/>
          </a:p>
          <a:p>
            <a:pPr indent="-217941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5541"/>
              <a:t>Fracture Toughness | MMOD (H) [0.05]</a:t>
            </a:r>
            <a:endParaRPr sz="5541"/>
          </a:p>
          <a:p>
            <a:pPr indent="-217941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5541"/>
              <a:t>Hydrogen Embrittlement | </a:t>
            </a:r>
            <a:r>
              <a:rPr lang="en-US" sz="5541"/>
              <a:t>Weakening</a:t>
            </a:r>
            <a:r>
              <a:rPr lang="en-US" sz="5541"/>
              <a:t> (L) [0.05]</a:t>
            </a:r>
            <a:endParaRPr sz="554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Other Considerations | Notes</a:t>
            </a:r>
            <a:endParaRPr/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This trade study will help us determine at two materials for our spacecraft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One for the main structure | One for additional reinforcement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One material can fulfill multiple roles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Composites vs. Aluminum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We are comparing a quasi-isotropic layup versus and isotropic material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TRL</a:t>
            </a:r>
            <a:endParaRPr/>
          </a:p>
        </p:txBody>
      </p:sp>
      <p:graphicFrame>
        <p:nvGraphicFramePr>
          <p:cNvPr id="114" name="Google Shape;114;p5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{53C489E1-CD01-4AC5-B434-DD537316A957}</a:tableStyleId>
              </a:tblPr>
              <a:tblGrid>
                <a:gridCol w="1502225"/>
                <a:gridCol w="1502225"/>
                <a:gridCol w="1502225"/>
                <a:gridCol w="1502225"/>
                <a:gridCol w="1502225"/>
                <a:gridCol w="1502225"/>
                <a:gridCol w="1502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Al 6061-T6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Al 7075-T73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Al 2024-T3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AS4/3501-6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IM7/8552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M40J/954-3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Weighted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Cumulative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Specific Modulus</a:t>
            </a:r>
            <a:endParaRPr/>
          </a:p>
        </p:txBody>
      </p:sp>
      <p:graphicFrame>
        <p:nvGraphicFramePr>
          <p:cNvPr id="120" name="Google Shape;120;p6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{53C489E1-CD01-4AC5-B434-DD537316A957}</a:tableStyleId>
              </a:tblPr>
              <a:tblGrid>
                <a:gridCol w="1502225"/>
                <a:gridCol w="1502225"/>
                <a:gridCol w="1502225"/>
                <a:gridCol w="1502225"/>
                <a:gridCol w="1502225"/>
                <a:gridCol w="1502225"/>
                <a:gridCol w="1502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GPa/(g/cc)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Al 6061-T6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Al 7075-T73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Al 2024-T3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AS4/3501-6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IM7/8552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 strike="noStrike"/>
                        <a:t>M40J</a:t>
                      </a:r>
                      <a:r>
                        <a:rPr lang="en-US" sz="1800" u="none" cap="none" strike="noStrike"/>
                        <a:t>/</a:t>
                      </a:r>
                      <a:r>
                        <a:rPr lang="en-US" sz="1800" cap="none" strike="noStrike"/>
                        <a:t>954-3</a:t>
                      </a:r>
                      <a:r>
                        <a:rPr lang="en-US" sz="1800" u="none" cap="none" strike="noStrike"/>
                        <a:t>*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25.556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24.911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25.540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 strike="noStrike"/>
                        <a:t>59.13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 strike="noStrike"/>
                        <a:t>69.00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85.81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59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Weighted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Cumulative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2.6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2.8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1" name="Google Shape;121;p6"/>
          <p:cNvSpPr txBox="1"/>
          <p:nvPr/>
        </p:nvSpPr>
        <p:spPr>
          <a:xfrm>
            <a:off x="838200" y="6173260"/>
            <a:ext cx="24921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Given a 57.5% FVF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Specific Strength</a:t>
            </a:r>
            <a:endParaRPr/>
          </a:p>
        </p:txBody>
      </p:sp>
      <p:graphicFrame>
        <p:nvGraphicFramePr>
          <p:cNvPr id="127" name="Google Shape;127;p7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{53C489E1-CD01-4AC5-B434-DD537316A957}</a:tableStyleId>
              </a:tblPr>
              <a:tblGrid>
                <a:gridCol w="1502225"/>
                <a:gridCol w="1502225"/>
                <a:gridCol w="1502225"/>
                <a:gridCol w="1502225"/>
                <a:gridCol w="1502225"/>
                <a:gridCol w="1502225"/>
                <a:gridCol w="1502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Mpa/(g/cc)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6061-T6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7075-T73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2024-T3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AS4/3501-6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IM7/8552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M40J/954-3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114.815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177.936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115.108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391.192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532.081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549.018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Weighted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1.6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1.8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Cumulative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3.4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4.2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4.6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4.8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8" name="Google Shape;128;p7"/>
          <p:cNvSpPr txBox="1"/>
          <p:nvPr/>
        </p:nvSpPr>
        <p:spPr>
          <a:xfrm>
            <a:off x="838200" y="5846544"/>
            <a:ext cx="465268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b="0" i="0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Composite strength was calculated using the Hart-Smith 10% rule (0.325F1t)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(p.12)</a:t>
            </a:r>
            <a:endParaRPr/>
          </a:p>
        </p:txBody>
      </p:sp>
      <p:pic>
        <p:nvPicPr>
          <p:cNvPr id="129" name="Google Shape;12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9328" y="5846544"/>
            <a:ext cx="2743583" cy="628738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Outgassing (TML%)</a:t>
            </a:r>
            <a:endParaRPr/>
          </a:p>
        </p:txBody>
      </p:sp>
      <p:sp>
        <p:nvSpPr>
          <p:cNvPr id="135" name="Google Shape;135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Only really applicable to PMCs</a:t>
            </a:r>
            <a:endParaRPr/>
          </a:p>
        </p:txBody>
      </p:sp>
      <p:graphicFrame>
        <p:nvGraphicFramePr>
          <p:cNvPr id="136" name="Google Shape;136;p8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{53C489E1-CD01-4AC5-B434-DD537316A957}</a:tableStyleId>
              </a:tblPr>
              <a:tblGrid>
                <a:gridCol w="1502225"/>
                <a:gridCol w="1502225"/>
                <a:gridCol w="1502225"/>
                <a:gridCol w="1502225"/>
                <a:gridCol w="1502225"/>
                <a:gridCol w="1502225"/>
                <a:gridCol w="1502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6061-T6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7075-T73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2024-T3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AS4/3501-6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IM7/8552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M40J/954-3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0.59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0.41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Weighted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0.6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Cumulative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4.4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4.6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5.6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ESD Risk (IACS Weight %)</a:t>
            </a:r>
            <a:endParaRPr/>
          </a:p>
        </p:txBody>
      </p:sp>
      <p:graphicFrame>
        <p:nvGraphicFramePr>
          <p:cNvPr id="142" name="Google Shape;142;p9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{53C489E1-CD01-4AC5-B434-DD537316A957}</a:tableStyleId>
              </a:tblPr>
              <a:tblGrid>
                <a:gridCol w="1502225"/>
                <a:gridCol w="1502225"/>
                <a:gridCol w="1502225"/>
                <a:gridCol w="1502225"/>
                <a:gridCol w="1502225"/>
                <a:gridCol w="1502225"/>
                <a:gridCol w="1502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6061-T6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7075-T73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2024-T3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AS4/3501-6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IM7/8552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M40J/954-3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140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98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/>
                        <a:t>&lt;1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/>
                        <a:t>&lt;1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Weighted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0.05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0.05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0.05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Cumulative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4.5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4.9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4.5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4.65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5.25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5.65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Manufacturability</a:t>
            </a:r>
            <a:endParaRPr/>
          </a:p>
        </p:txBody>
      </p:sp>
      <p:graphicFrame>
        <p:nvGraphicFramePr>
          <p:cNvPr id="148" name="Google Shape;148;p10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{53C489E1-CD01-4AC5-B434-DD537316A957}</a:tableStyleId>
              </a:tblPr>
              <a:tblGrid>
                <a:gridCol w="1502225"/>
                <a:gridCol w="1502225"/>
                <a:gridCol w="1502225"/>
                <a:gridCol w="1502225"/>
                <a:gridCol w="1502225"/>
                <a:gridCol w="1502225"/>
                <a:gridCol w="1502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6061-T6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7075-T73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2024-T3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AS4/3501-6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IM7/8552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M40J/954-3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Weighted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0.45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0.45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0.15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Cumulative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5.35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4.95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4.85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5.45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Radiation Tolerance</a:t>
            </a:r>
            <a:endParaRPr/>
          </a:p>
        </p:txBody>
      </p:sp>
      <p:sp>
        <p:nvSpPr>
          <p:cNvPr id="154" name="Google Shape;154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Affects primarily PMC</a:t>
            </a:r>
            <a:endParaRPr/>
          </a:p>
        </p:txBody>
      </p:sp>
      <p:graphicFrame>
        <p:nvGraphicFramePr>
          <p:cNvPr id="155" name="Google Shape;155;p11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{53C489E1-CD01-4AC5-B434-DD537316A957}</a:tableStyleId>
              </a:tblPr>
              <a:tblGrid>
                <a:gridCol w="1502225"/>
                <a:gridCol w="1502225"/>
                <a:gridCol w="1502225"/>
                <a:gridCol w="1502225"/>
                <a:gridCol w="1502225"/>
                <a:gridCol w="1502225"/>
                <a:gridCol w="1502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6061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7075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2024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AS4/3501-6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IM7/8552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M40J/954-3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Weighted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Cumulative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56" name="Google Shape;156;p11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{53C489E1-CD01-4AC5-B434-DD537316A957}</a:tableStyleId>
              </a:tblPr>
              <a:tblGrid>
                <a:gridCol w="1502225"/>
                <a:gridCol w="1502225"/>
                <a:gridCol w="1502225"/>
                <a:gridCol w="1502225"/>
                <a:gridCol w="1502225"/>
                <a:gridCol w="1502225"/>
                <a:gridCol w="1502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6061-T6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7075-T73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2024-T3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AS4/3501-6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IM7/8552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M40J/954-3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hlink"/>
                          </a:solidFill>
                          <a:hlinkClick r:id="rId3"/>
                        </a:rPr>
                        <a:t>9</a:t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Score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Weighted Score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0.5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0.5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0.9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Cumulative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6.35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5.95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5.35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5.95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6.7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pic>
        <p:nvPicPr>
          <p:cNvPr id="157" name="Google Shape;15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188" y="4287500"/>
            <a:ext cx="5114925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1"/>
          <p:cNvSpPr txBox="1"/>
          <p:nvPr/>
        </p:nvSpPr>
        <p:spPr>
          <a:xfrm>
            <a:off x="6069125" y="4691225"/>
            <a:ext cx="35343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https://ntrs.nasa.gov/api/citations/19670004550/downloads/19670004550.pdf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UV Resistance</a:t>
            </a:r>
            <a:endParaRPr/>
          </a:p>
        </p:txBody>
      </p:sp>
      <p:sp>
        <p:nvSpPr>
          <p:cNvPr id="164" name="Google Shape;164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Also just PMC</a:t>
            </a:r>
            <a:endParaRPr/>
          </a:p>
        </p:txBody>
      </p:sp>
      <p:graphicFrame>
        <p:nvGraphicFramePr>
          <p:cNvPr id="165" name="Google Shape;165;p12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{53C489E1-CD01-4AC5-B434-DD537316A957}</a:tableStyleId>
              </a:tblPr>
              <a:tblGrid>
                <a:gridCol w="1502225"/>
                <a:gridCol w="1502225"/>
                <a:gridCol w="1502225"/>
                <a:gridCol w="1502225"/>
                <a:gridCol w="1502225"/>
                <a:gridCol w="1502225"/>
                <a:gridCol w="1502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6061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7075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2024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AS4/3501-6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IM7/8552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M40J/954-3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Weighted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Cumulative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66" name="Google Shape;166;p12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{53C489E1-CD01-4AC5-B434-DD537316A957}</a:tableStyleId>
              </a:tblPr>
              <a:tblGrid>
                <a:gridCol w="1502225"/>
                <a:gridCol w="1502225"/>
                <a:gridCol w="1502225"/>
                <a:gridCol w="1502225"/>
                <a:gridCol w="1502225"/>
                <a:gridCol w="1502225"/>
                <a:gridCol w="1502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6061-T6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7075-T73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2024-T3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AS4/3501-6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IM7/8552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M40J/954-3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sng">
                          <a:solidFill>
                            <a:schemeClr val="hlink"/>
                          </a:solidFill>
                          <a:hlinkClick r:id="rId3"/>
                        </a:rPr>
                        <a:t>9</a:t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Score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Weighted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0.5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0.5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0.9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Cumulative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7.35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6.95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5.85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6.45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7.6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Fracture Toughness (S-T or S-L)</a:t>
            </a:r>
            <a:endParaRPr/>
          </a:p>
        </p:txBody>
      </p:sp>
      <p:graphicFrame>
        <p:nvGraphicFramePr>
          <p:cNvPr id="172" name="Google Shape;172;p13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{53C489E1-CD01-4AC5-B434-DD537316A957}</a:tableStyleId>
              </a:tblPr>
              <a:tblGrid>
                <a:gridCol w="1502225"/>
                <a:gridCol w="1502225"/>
                <a:gridCol w="1502225"/>
                <a:gridCol w="1502225"/>
                <a:gridCol w="1502225"/>
                <a:gridCol w="1502225"/>
                <a:gridCol w="1502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MPa/sqt(r)</a:t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6061-T6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7075-T73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2024-T3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AS4/3501-6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IM7/8552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M40J/954-3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23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26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&lt;5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&lt;5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&lt;5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Weighted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0.35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Cumulative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7.35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7.65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7.35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5.95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6.55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7.7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522d56a25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Hydrogen Embrittlement</a:t>
            </a:r>
            <a:endParaRPr/>
          </a:p>
        </p:txBody>
      </p:sp>
      <p:graphicFrame>
        <p:nvGraphicFramePr>
          <p:cNvPr id="178" name="Google Shape;178;g3d522d56a25_0_0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{53C489E1-CD01-4AC5-B434-DD537316A957}</a:tableStyleId>
              </a:tblPr>
              <a:tblGrid>
                <a:gridCol w="1502225"/>
                <a:gridCol w="1502225"/>
                <a:gridCol w="1502225"/>
                <a:gridCol w="1502225"/>
                <a:gridCol w="1502225"/>
                <a:gridCol w="1502225"/>
                <a:gridCol w="1502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6061-T6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7075-T73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2024-T3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AS4/3501-6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IM7/8552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M40J/954-3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Weighted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0.45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0.5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Cumulative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7.85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8.1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7.65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6.45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7.05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8.2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184" name="Google Shape;18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 7075-T73 will be the primary material for the spacecraft bus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M40J/954-3 </a:t>
            </a:r>
            <a:r>
              <a:rPr lang="en-US"/>
              <a:t>will be used for the COPV and struts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Titanium or Stainless Steel liner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5" name="Google Shape;185;p14"/>
          <p:cNvGraphicFramePr/>
          <p:nvPr/>
        </p:nvGraphicFramePr>
        <p:xfrm>
          <a:off x="838200" y="34704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{53C489E1-CD01-4AC5-B434-DD537316A957}</a:tableStyleId>
              </a:tblPr>
              <a:tblGrid>
                <a:gridCol w="1502225"/>
                <a:gridCol w="1502225"/>
                <a:gridCol w="1502225"/>
                <a:gridCol w="1502225"/>
                <a:gridCol w="1502225"/>
                <a:gridCol w="1502225"/>
                <a:gridCol w="1502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6061-T6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7075-T73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 2024-T3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AS4/3501-6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IM7/8552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M40J/954-3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Cumulative Score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7.85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8.1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7.65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6.45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7.05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8.2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b45dde80c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</a:t>
            </a:r>
            <a:endParaRPr/>
          </a:p>
        </p:txBody>
      </p:sp>
      <p:sp>
        <p:nvSpPr>
          <p:cNvPr id="192" name="Google Shape;192;g38b45dde80c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Aluminum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Also Aluminum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AS4/IM7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6"/>
              </a:rPr>
              <a:t>M40J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7"/>
              </a:rPr>
              <a:t>954-3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8"/>
              </a:rPr>
              <a:t>Outgassing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2026-04-07T04:43:47Z</dcterms:created>
  <dc:creator>Kim, Vincent Shin-Lee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0x0101008447972BE25C924389E1EF042A4B2B98</vt:lpwstr>
  </property>
</Properties>
</file>